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bhav Singh" userId="181456bb-3f28-421e-893d-f12c4a1288d3" providerId="ADAL" clId="{4045DBEC-94FE-478C-80CB-9D4619419336}"/>
    <pc:docChg chg="undo custSel modSld">
      <pc:chgData name="Anubhav Singh" userId="181456bb-3f28-421e-893d-f12c4a1288d3" providerId="ADAL" clId="{4045DBEC-94FE-478C-80CB-9D4619419336}" dt="2026-07-28T07:35:58.158" v="4" actId="1076"/>
      <pc:docMkLst>
        <pc:docMk/>
      </pc:docMkLst>
      <pc:sldChg chg="modSp mod">
        <pc:chgData name="Anubhav Singh" userId="181456bb-3f28-421e-893d-f12c4a1288d3" providerId="ADAL" clId="{4045DBEC-94FE-478C-80CB-9D4619419336}" dt="2026-07-28T07:35:58.158" v="4" actId="1076"/>
        <pc:sldMkLst>
          <pc:docMk/>
          <pc:sldMk cId="0" sldId="267"/>
        </pc:sldMkLst>
        <pc:spChg chg="mod">
          <ac:chgData name="Anubhav Singh" userId="181456bb-3f28-421e-893d-f12c4a1288d3" providerId="ADAL" clId="{4045DBEC-94FE-478C-80CB-9D4619419336}" dt="2026-07-28T07:35:51.769" v="2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Anubhav Singh" userId="181456bb-3f28-421e-893d-f12c4a1288d3" providerId="ADAL" clId="{4045DBEC-94FE-478C-80CB-9D4619419336}" dt="2026-07-28T07:35:58.158" v="4" actId="1076"/>
          <ac:spMkLst>
            <pc:docMk/>
            <pc:sldMk cId="0" sldId="267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94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3566160" y="658368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151515"/>
          </a:solidFill>
          <a:ln/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FIELD GUIDE FOR DEVELOPERS  ·  30 MINUTES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 rot="-90000">
            <a:off x="1554480" y="1600200"/>
            <a:ext cx="9052560" cy="2697480"/>
          </a:xfrm>
          <a:prstGeom prst="rect">
            <a:avLst/>
          </a:prstGeom>
          <a:solidFill>
            <a:srgbClr val="FFFDF7"/>
          </a:solidFill>
          <a:ln w="635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SPEC-DRIVEN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DEVELOPMENT</a:t>
            </a:r>
            <a:endParaRPr lang="en-US" sz="58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with coding agents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 rot="480000">
            <a:off x="9464040" y="1234440"/>
            <a:ext cx="2331720" cy="1920240"/>
          </a:xfrm>
          <a:prstGeom prst="irregularSeal2">
            <a:avLst/>
          </a:prstGeom>
          <a:solidFill>
            <a:srgbClr val="FFCB28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f(spec)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E43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377440" y="4617720"/>
            <a:ext cx="7406640" cy="1234440"/>
          </a:xfrm>
          <a:prstGeom prst="wedgeRoundRectCallout">
            <a:avLst/>
          </a:prstGeom>
          <a:solidFill>
            <a:srgbClr val="FFFFFF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Stop vibe-coding. </a:t>
            </a:r>
            <a:r>
              <a:rPr lang="en-US" sz="22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Write the contract — let the agent execute.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IT'S 3PM ON A TUESDAY…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open your agent and type three friendly sentences.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486400" cy="141732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“Add a loading spinner to the dashboard so users know when data is loading.”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337560"/>
            <a:ext cx="5486400" cy="2880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3465576"/>
            <a:ext cx="515721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 THE AGENT SHIPPED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lines of code, two minutes later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spinner on EVERY page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third-party animation library not in your project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on ALL async requests — including analytics pings the user never sees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49240" cy="2331720"/>
          </a:xfrm>
          <a:prstGeom prst="rect">
            <a:avLst/>
          </a:prstGeom>
          <a:solidFill>
            <a:srgbClr val="FFFDF7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65392" y="1682496"/>
            <a:ext cx="502005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 DID EXACTLY WHAT YOU ASKED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specified a spinner that says “data is loading.”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invented the scope, the library, and the trigger condition — because you left all three blank.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 rot="-180000">
            <a:off x="6766560" y="4160520"/>
            <a:ext cx="4754880" cy="1965960"/>
          </a:xfrm>
          <a:prstGeom prst="irregularSeal1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agent didn't fail.</a:t>
            </a:r>
            <a:endParaRPr lang="en-US" sz="22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Your SPEC did.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ONE TRANSFER OF POWER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total work — but who resolves the ambiguity, and when?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86400" cy="379476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VIBE CODING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agent is in charge.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a mood and hope.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is resolved invisibly, inside the agent, during generation.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discover it in code review.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486400" cy="379476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87452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SPEC-DRIVEN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are in charge.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a contract; the agent executes it.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is resolved visibly, by you, while writing the spec.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8A58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discover it before any code exists.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5532120"/>
            <a:ext cx="6309360" cy="10515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well-structured spec </a:t>
            </a:r>
            <a:r>
              <a:rPr lang="en-US" sz="19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</a:t>
            </a:r>
            <a:r>
              <a:rPr lang="en-US" sz="19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the program.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AGENT IS A FUNCTION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Extraordinarily powerful — but still just input → output.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77440" y="1691640"/>
            <a:ext cx="7406640" cy="1371600"/>
          </a:xfrm>
          <a:prstGeom prst="rect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 </a:t>
            </a:r>
            <a:r>
              <a:rPr lang="en-US" sz="4400" b="1" dirty="0">
                <a:solidFill>
                  <a:srgbClr val="226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4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 →  </a:t>
            </a:r>
            <a:r>
              <a:rPr lang="en-US" sz="4400" b="1" dirty="0">
                <a:solidFill>
                  <a:srgbClr val="E43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5074920" cy="18745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3557016"/>
            <a:ext cx="47457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8A58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Every WORD you write</a:t>
            </a:r>
            <a:endParaRPr lang="en-US" sz="17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 constraint. Something the agent cannot randomly vary.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3429000"/>
            <a:ext cx="5074920" cy="18745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28232" y="3557016"/>
            <a:ext cx="47457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Every word you OMIT</a:t>
            </a:r>
            <a:endParaRPr lang="en-US" sz="17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 degree of freedom. The agent fills it with its statistically-likely priors.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51760" y="5577840"/>
            <a:ext cx="6858000" cy="100584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difference isn't </a:t>
            </a:r>
            <a:r>
              <a:rPr lang="en-US" sz="1800" b="1" dirty="0">
                <a:solidFill>
                  <a:srgbClr val="5A607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much</a:t>
            </a:r>
            <a:r>
              <a:rPr lang="en-US" sz="1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you write. It's </a:t>
            </a:r>
            <a:r>
              <a:rPr lang="en-US" sz="18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</a:t>
            </a:r>
            <a:r>
              <a:rPr lang="en-US" sz="1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you write.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SPEC–AGENT CONTRACT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terms you sign every time you hit enter.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2880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685800" cy="685800"/>
          </a:xfrm>
          <a:prstGeom prst="ellipse">
            <a:avLst/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 HAS ONLY WHAT YOU GIVE IT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institutional memory. No last quarter's docs. No prior conversation. Just your spec, the code you provide, and its training.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2880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810512"/>
            <a:ext cx="685800" cy="685800"/>
          </a:xfrm>
          <a:prstGeom prst="ellipse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AMBIGUITY → TRAINING PRIORS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“make it faster” and it picks the most common way it has seen. Reasonable — but not the same as correct for your context.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600200"/>
            <a:ext cx="3566160" cy="2880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0" y="1810512"/>
            <a:ext cx="685800" cy="685800"/>
          </a:xfrm>
          <a:prstGeom prst="ellipse">
            <a:avLst/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75320" y="26060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8A58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 VERIFICATION UNLESS YOU SAY SO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doesn't know it succeeded. Passing your standards isn't in the contract until you add acceptance criteria.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 rot="-120000">
            <a:off x="3017520" y="4754880"/>
            <a:ext cx="6126480" cy="1874520"/>
          </a:xfrm>
          <a:prstGeom prst="irregularSeal1">
            <a:avLst/>
          </a:prstGeom>
          <a:solidFill>
            <a:srgbClr val="151515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SWE-bench: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 quality predicted success.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Agent capability stayed ~constant.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EVERY SPEC FAILURE = ONE OF THREE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name the failure and you learn to fix the spec.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661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AMBIGUITY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08960" cy="777240"/>
          </a:xfrm>
          <a:prstGeom prst="rect">
            <a:avLst/>
          </a:prstGeom>
          <a:solidFill>
            <a:srgbClr val="FFFDF7"/>
          </a:solidFill>
          <a:ln w="25400">
            <a:solidFill>
              <a:srgbClr val="15151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“make it look better”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384048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picks one of many valid interpretations.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INCOMPLETENESS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3108960" cy="777240"/>
          </a:xfrm>
          <a:prstGeom prst="rect">
            <a:avLst/>
          </a:prstGeom>
          <a:solidFill>
            <a:srgbClr val="FFFDF7"/>
          </a:solidFill>
          <a:ln w="25400">
            <a:solidFill>
              <a:srgbClr val="15151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missing: “no new npm packages”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384048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does the sensible thing — wrong for your context.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2440" y="1783080"/>
            <a:ext cx="35661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201168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UNTESTABILITY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108960" cy="777240"/>
          </a:xfrm>
          <a:prstGeom prst="rect">
            <a:avLst/>
          </a:prstGeom>
          <a:solidFill>
            <a:srgbClr val="FFFDF7"/>
          </a:solidFill>
          <a:ln w="25400">
            <a:solidFill>
              <a:srgbClr val="15151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“improve performance”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384048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produces code it can't verify against your intent.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2834640" cy="2834640"/>
          </a:xfrm>
          <a:prstGeom prst="star10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3794760" y="2194560"/>
            <a:ext cx="7818120" cy="1417320"/>
          </a:xfrm>
          <a:prstGeom prst="rect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Anatomy of an Executable Spec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94760" y="3794760"/>
            <a:ext cx="7818120" cy="10515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Four layers. Miss one, and it fails in a predictable way.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FOUR LAYERS, EVERY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structure to be executable — no 20-page requirements doc.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86400" cy="214884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755648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226ED2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1737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Here is the world.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" y="24231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files, the existing pattern to follow.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" y="31821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Miss it → wrong thing changed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486400" cy="214884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0528" y="1755648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18A580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GOAL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32520" y="1737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Here is the outcome.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8816" y="24231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user-visible behaviour. The result, not the method.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28816" y="31821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Miss it → optimizes wrong outcome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86400" cy="214884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" y="4087368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E4322B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40690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Walls you can't move.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" y="47548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not change. Every line = a rabbit hole closed.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" y="55138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Miss it → unwanted changes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886200"/>
            <a:ext cx="5486400" cy="214884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10528" y="4087368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7C4EC4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ACCEPTANCE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32520" y="40690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we know it's done.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28816" y="47548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statements, each true or false. Given / When / Then.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28816" y="55138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Miss it → nobody knows if it worked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ONE SPEC, FOUR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search on the admin user list.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7589520" cy="489204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178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7C4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Feature: Search on Admin User List
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6B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Context
</a:t>
            </a: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+ TS admin. UserListPage.tsx renders &lt;DataTable&gt;.
Copy the client-side search on ProductListPage.tsx.
</a:t>
            </a:r>
            <a:r>
              <a:rPr lang="en-US" sz="1250" b="1" dirty="0">
                <a:solidFill>
                  <a:srgbClr val="5FD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Goal
</a:t>
            </a: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types in a box → list filters live by name/email
(case-insensitive).
</a:t>
            </a:r>
            <a:r>
              <a:rPr lang="en-US" sz="1250" b="1" dirty="0">
                <a:solidFill>
                  <a:srgbClr val="FF7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Constraints
</a:t>
            </a: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new npm packages. No backend changes. Client-side only.
Don't touch DataTable. Match ProductListPage styling.
</a:t>
            </a:r>
            <a:r>
              <a:rPr lang="en-US" sz="1250" b="1" dirty="0">
                <a:solidFill>
                  <a:srgbClr val="C9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Acceptance criteria
</a:t>
            </a: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“alice” shows only matching users (case-insensitive)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Clearing the box restores the full list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No match → “No users found”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66760" y="1920240"/>
            <a:ext cx="3337560" cy="17373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Fits on ONE page.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~10 minutes to write.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 rot="180000">
            <a:off x="8549640" y="3977640"/>
            <a:ext cx="3108960" cy="2148840"/>
          </a:xfrm>
          <a:prstGeom prst="irregularSeal2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Criteria FIRST!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Can't write 3?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don't know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 you want yet.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2834640" cy="2834640"/>
          </a:xfrm>
          <a:prstGeom prst="star10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3794760" y="2194560"/>
            <a:ext cx="7818120" cy="1417320"/>
          </a:xfrm>
          <a:prstGeom prst="rect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Project Constitution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94760" y="3794760"/>
            <a:ext cx="7818120" cy="10515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Write the shared context ONCE — every spec inherits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ONE DOC EVERY SPEC INHERITS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calls it CLAUDE.md. Cursor: .cursorrules. Same idea.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120640" cy="1234440"/>
          </a:xfrm>
          <a:prstGeom prst="wedgeRoundRectCallout">
            <a:avLst/>
          </a:prstGeom>
          <a:solidFill>
            <a:srgbClr val="FFFFFF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It's the employee handbook for your agent — read once, applied to everything.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1554480"/>
            <a:ext cx="2788920" cy="1024128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08192" y="1682496"/>
            <a:ext cx="2459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MISSION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&amp; who it's for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15400" y="1554480"/>
            <a:ext cx="2788920" cy="1024128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79992" y="1682496"/>
            <a:ext cx="2459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TECH STACK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…+ what's NOT in scope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724912"/>
            <a:ext cx="2788920" cy="1024128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08192" y="2852928"/>
            <a:ext cx="2459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8A58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CONVENTIONS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Naming, files, patterns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2724912"/>
            <a:ext cx="2788920" cy="1024128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79992" y="2852928"/>
            <a:ext cx="2459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7C4E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ROADMAP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3–5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895344"/>
            <a:ext cx="2788920" cy="1024128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4023360"/>
            <a:ext cx="2459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STANDARDS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a11y, security, errors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 rot="-120000">
            <a:off x="640080" y="3246120"/>
            <a:ext cx="4846320" cy="1965960"/>
          </a:xfrm>
          <a:prstGeom prst="irregularSeal1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“NOT in scope”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 the most important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part. Each line = a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rabbit hole that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 longer exists.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5029200"/>
            <a:ext cx="5760720" cy="1371600"/>
          </a:xfrm>
          <a:prstGeom prst="rect">
            <a:avLst/>
          </a:prstGeom>
          <a:solidFill>
            <a:srgbClr val="FFFDF7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08192" y="5157216"/>
            <a:ext cx="5431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WHEN THE SPEC HITS AN EDGE CASE…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…the agent consults the constitution to make the right call. “Add analytics?” — mission says “no overhead,” so no.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SHORTER SPECS, ANY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 absorbs the repeated context so specs stay lean.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86400" cy="306324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4322B"/>
          </a:solidFill>
          <a:ln w="25400">
            <a:solidFill>
              <a:srgbClr val="1515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WITHOUT a constitution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admin panel is a React + TypeScript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(src/admin/). UserListPage.tsx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fetches GET /api/admin/users into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&lt;DataTable&gt;. ProductListPage.tsx has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client-side search box — follow it exactly.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86400" cy="306324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7830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18A580"/>
          </a:solidFill>
          <a:ln w="25400">
            <a:solidFill>
              <a:srgbClr val="1515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WITH a constitution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CLAUDE.md for stack + conventions.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Page: UserListPage.tsx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to copy: ProductListPage.tsx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360000">
            <a:off x="4892041" y="2969162"/>
            <a:ext cx="2423160" cy="1874520"/>
          </a:xfrm>
          <a:prstGeom prst="irregularSeal2">
            <a:avLst/>
          </a:prstGeom>
          <a:solidFill>
            <a:srgbClr val="FFCB28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 lines</a:t>
            </a:r>
            <a:endParaRPr lang="en-US" sz="15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50749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50749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.cursorrules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50749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instructions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4892040"/>
            <a:ext cx="2743200" cy="10515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Same idea. Any agent.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2834640" cy="2834640"/>
          </a:xfrm>
          <a:prstGeom prst="star10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3794760" y="2194560"/>
            <a:ext cx="7818120" cy="1417320"/>
          </a:xfrm>
          <a:prstGeom prst="rect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Writing Feature Specs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94760" y="3794760"/>
            <a:ext cx="7818120" cy="10515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Don't start with the feature. Start with DONE.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FFCB28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FIVE PARTS — WRITTEN BACKWARDS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them forward; write them in reverse to force clarity.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10312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728216"/>
            <a:ext cx="17739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APPETITE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/ Med / Large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87752" y="1600200"/>
            <a:ext cx="2194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88920" y="1600200"/>
            <a:ext cx="210312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53512" y="1728216"/>
            <a:ext cx="17739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PROBLEM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pain, for whom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73752" y="1600200"/>
            <a:ext cx="2194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074920" y="1600200"/>
            <a:ext cx="210312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39512" y="1728216"/>
            <a:ext cx="17739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SKETCH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User-visible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9752" y="1600200"/>
            <a:ext cx="2194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360920" y="1600200"/>
            <a:ext cx="210312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25512" y="1728216"/>
            <a:ext cx="17739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NO-GOS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NOT building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45752" y="1600200"/>
            <a:ext cx="2194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646920" y="1600200"/>
            <a:ext cx="2103120" cy="160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11512" y="1728216"/>
            <a:ext cx="17739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CRITERIA</a:t>
            </a:r>
            <a:endParaRPr lang="en-US" sz="14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/ When / Then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WRITE ORDER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Criteria  ←  No-gos  ←  Sketch  ←  Problem  ←  Appetite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617720"/>
            <a:ext cx="8138160" cy="15087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Can't write three testable criteria in five minutes? </a:t>
            </a:r>
            <a:r>
              <a:rPr lang="en-US" sz="18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That feature isn't ready to be specced yet.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FFCB28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WORKED EXAMPLE: CSV EXPORT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no-gos are where the real spec-writing happens.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7040880" cy="489204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6629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C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Feature: CSV Export — User List
</a:t>
            </a:r>
            <a:r>
              <a:rPr lang="en-US" sz="1250" b="1" dirty="0">
                <a:solidFill>
                  <a:srgbClr val="18A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Appetite
</a:t>
            </a: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(1–2 hrs). If it isn't simple, descope.
</a:t>
            </a:r>
            <a:r>
              <a:rPr lang="en-US" sz="1250" b="1" dirty="0">
                <a:solidFill>
                  <a:srgbClr val="E43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No-gos
</a:t>
            </a: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server-side export endpoint
- No scheduled exports / email delivery
- No Excel (.xlsx) — CSV only
- No custom column-picker UI
</a:t>
            </a:r>
            <a:r>
              <a:rPr lang="en-US" sz="1250" b="1" dirty="0">
                <a:solidFill>
                  <a:srgbClr val="C9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Acceptance criteria
</a:t>
            </a: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Click “Export CSV” → downloads visible (filtered) users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Columns: Name, Email, Role, Created Date — in order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Zero visible users → header row only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886200" cy="214884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82712" y="1819656"/>
            <a:ext cx="355701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NO-GOS = RABBIT HOLES</a:t>
            </a:r>
            <a:endParaRPr lang="en-US" sz="15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reasonable agent would happily build a streaming server endpoint or a column-picker modal. The no-gos delete those paths before it starts.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 rot="120000">
            <a:off x="8001000" y="4114800"/>
            <a:ext cx="3566160" cy="2011680"/>
          </a:xfrm>
          <a:prstGeom prst="irregularSeal1">
            <a:avLst/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Export what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SEE —</a:t>
            </a:r>
            <a:endParaRPr lang="en-US" sz="170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writing AC #1 first</a:t>
            </a:r>
            <a:endParaRPr lang="en-US" sz="170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forced that decision.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2834640" cy="2834640"/>
          </a:xfrm>
          <a:prstGeom prst="star10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8A58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3794760" y="2194560"/>
            <a:ext cx="7818120" cy="1417320"/>
          </a:xfrm>
          <a:prstGeom prst="rect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Plan → Implement → Verify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94760" y="3794760"/>
            <a:ext cx="7818120" cy="10515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three-beat loop you run on every feature.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THREE BEATS, IN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beat is where ~80% of miscommunication gets caught.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66160" cy="2697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73736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 · PLAN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2376" y="242316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6ED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GATE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the constitution + spec. “Produce a numbered plan first. No code yet.” Read each step vs. your no-gos.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50792" y="1554480"/>
            <a:ext cx="320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697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98848" y="173736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 · IMPLEMENT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17136" y="242316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A58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LET IT WORK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“Implement exactly as planned. Stop and tell me if anything is unexpected.” Don't add scope mid-flight.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45552" y="1554480"/>
            <a:ext cx="320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092440" y="1554480"/>
            <a:ext cx="3566160" cy="2697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93608" y="173736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7C4EC4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 · VERIFY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11896" y="242316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C4E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CHECK EACH AC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every acceptance criterion one by one. Trust your eyes over the agent's self-assessment.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 rot="-60000">
            <a:off x="2011680" y="4526280"/>
            <a:ext cx="8138160" cy="2057400"/>
          </a:xfrm>
          <a:prstGeom prst="irregularSeal1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Wrong PLAN = 30 seconds to fix.</a:t>
            </a:r>
            <a:endParaRPr lang="en-US" sz="22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CB2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Wrong CODE = 30 minutes.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ACTUAL PROMPTS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reusable prompts — the whole loop is muscle memory.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66160" cy="470916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755648"/>
            <a:ext cx="3154680" cy="530352"/>
          </a:xfrm>
          <a:prstGeom prst="roundRect">
            <a:avLst>
              <a:gd name="adj" fmla="val 10345"/>
            </a:avLst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24688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CLAUDE.md and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specs/feature.md.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any code, produce a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numbered plan: file, change,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which AC it satisfies.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assumptions.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write code yet.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470916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98848" y="1755648"/>
            <a:ext cx="3154680" cy="530352"/>
          </a:xfrm>
          <a:prstGeom prst="roundRect">
            <a:avLst>
              <a:gd name="adj" fmla="val 10345"/>
            </a:avLst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24688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looks good.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it exactly as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described.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anything is unexpected —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missing file, a type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 — STOP and tell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 before changing the plan.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554480"/>
            <a:ext cx="3566160" cy="470916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3608" y="1755648"/>
            <a:ext cx="3154680" cy="530352"/>
          </a:xfrm>
          <a:prstGeom prst="roundRect">
            <a:avLst>
              <a:gd name="adj" fmla="val 10345"/>
            </a:avLst>
          </a:prstGeom>
          <a:solidFill>
            <a:srgbClr val="7C4EC4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VERIFY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48472" y="24688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complete.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through each acceptance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one by one.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each: satisfied? and how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you verify it (test, code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trace, manual check)?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2834640" cy="2834640"/>
          </a:xfrm>
          <a:prstGeom prst="star10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7C4E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3794760" y="2194560"/>
            <a:ext cx="7818120" cy="1417320"/>
          </a:xfrm>
          <a:prstGeom prst="rect">
            <a:avLst/>
          </a:prstGeom>
          <a:solidFill>
            <a:srgbClr val="FFFDF7"/>
          </a:solidFill>
          <a:ln w="508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Full Pipeline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94760" y="3794760"/>
            <a:ext cx="7818120" cy="105156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 → Agent → CI → Deploy. Set up once, reuse forever.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7C4EC4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 → AGENT → CI → DEPLOY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failing test stops the line — the feature doesn't ship until green.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2514600" cy="1554480"/>
          </a:xfrm>
          <a:prstGeom prst="rect">
            <a:avLst/>
          </a:prstGeom>
          <a:solidFill>
            <a:srgbClr val="7C4EC4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CONSTITUTION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durable 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90088" y="16916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10712" y="1691640"/>
            <a:ext cx="2514600" cy="1554480"/>
          </a:xfrm>
          <a:prstGeom prst="rect">
            <a:avLst/>
          </a:prstGeom>
          <a:solidFill>
            <a:srgbClr val="226ED2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AGENT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implement · verify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97880" y="16916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18504" y="1691640"/>
            <a:ext cx="2514600" cy="1554480"/>
          </a:xfrm>
          <a:prstGeom prst="rect">
            <a:avLst/>
          </a:prstGeom>
          <a:solidFill>
            <a:srgbClr val="E4322B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CI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on every commit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05672" y="16916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226296" y="1691640"/>
            <a:ext cx="2514600" cy="1554480"/>
          </a:xfrm>
          <a:prstGeom prst="rect">
            <a:avLst/>
          </a:prstGeom>
          <a:solidFill>
            <a:srgbClr val="18A580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STAGING 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PROD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then deploy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5486400" cy="2743200"/>
          </a:xfrm>
          <a:prstGeom prst="rect">
            <a:avLst/>
          </a:prstGeom>
          <a:solidFill>
            <a:srgbClr val="0F1320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C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project-root/
</a:t>
            </a:r>
            <a:r>
              <a:rPr lang="en-US" sz="13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          </a:t>
            </a:r>
            <a:r>
              <a:rPr lang="en-US" sz="1300" dirty="0">
                <a:solidFill>
                  <a:srgbClr val="18A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constitution
</a:t>
            </a:r>
            <a:r>
              <a:rPr lang="en-US" sz="13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specs/
│   ├─ done/
│   └─ feature-csv-export.md
├─ .github/workflows/ci.yml  </a:t>
            </a:r>
            <a:r>
              <a:rPr lang="en-US" sz="1300" dirty="0">
                <a:solidFill>
                  <a:srgbClr val="E43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CI
</a:t>
            </a:r>
            <a:r>
              <a:rPr lang="en-US" sz="1300" dirty="0">
                <a:solidFill>
                  <a:srgbClr val="C9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 · tests/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3657600"/>
            <a:ext cx="5486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8232" y="3785616"/>
            <a:ext cx="515721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C4E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SPECS LIVE IN THE REPO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Not in Notion. Not in Confluence.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references them by path.</a:t>
            </a:r>
            <a:endParaRPr lang="en-US" sz="16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history shows how the spec evolved.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see the spec beside the code in the PR.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7C4EC4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SPEC IS THE 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pipeline around the spec, not around one vendor's agent.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86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8A580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DURABLE  (yours)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937760" cy="621792"/>
          </a:xfrm>
          <a:prstGeom prst="rect">
            <a:avLst/>
          </a:prstGeom>
          <a:solidFill>
            <a:srgbClr val="FFFDF7"/>
          </a:solidFill>
          <a:ln w="25400">
            <a:solidFill>
              <a:srgbClr val="151515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 — the constitution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4937760" cy="621792"/>
          </a:xfrm>
          <a:prstGeom prst="rect">
            <a:avLst/>
          </a:prstGeom>
          <a:solidFill>
            <a:srgbClr val="FFFDF7"/>
          </a:solidFill>
          <a:ln w="25400">
            <a:solidFill>
              <a:srgbClr val="151515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specs/*.md  — the feature specs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4937760" cy="621792"/>
          </a:xfrm>
          <a:prstGeom prst="rect">
            <a:avLst/>
          </a:prstGeom>
          <a:solidFill>
            <a:srgbClr val="FFFDF7"/>
          </a:solidFill>
          <a:ln w="25400">
            <a:solidFill>
              <a:srgbClr val="151515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5A607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INTERCHANGEABLE  (the tool)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26974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Cursor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74904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226ED2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Copilot Workspace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0" y="374904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…any future agent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5440680"/>
            <a:ext cx="6858000" cy="109728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Swap the agent. </a:t>
            </a:r>
            <a:r>
              <a:rPr lang="en-US" sz="1900" b="1" dirty="0">
                <a:solidFill>
                  <a:srgbClr val="18A58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workflow doesn't change.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1417320" y="457200"/>
            <a:ext cx="9326880" cy="3200400"/>
          </a:xfrm>
          <a:prstGeom prst="irregularSeal1">
            <a:avLst/>
          </a:prstGeom>
          <a:solidFill>
            <a:srgbClr val="FFCB28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WRITE THE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 FIRST.</a:t>
            </a:r>
            <a:endParaRPr lang="en-US" sz="34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ALWAYS.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Contract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480560" y="36118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Layers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21040" y="36118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Constitution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Feature Spec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80560" y="44805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Plan·Impl·Verify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21040" y="44805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DF7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Pipeline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77440" y="5532120"/>
            <a:ext cx="7406640" cy="1051560"/>
          </a:xfrm>
          <a:prstGeom prst="wedgeRoundRectCallout">
            <a:avLst/>
          </a:prstGeom>
          <a:solidFill>
            <a:srgbClr val="FFFFFF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minutes of spec beats 30 minutes of debugging — every time.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68680" cy="868680"/>
          </a:xfrm>
          <a:prstGeom prst="star5">
            <a:avLst/>
          </a:prstGeom>
          <a:solidFill>
            <a:srgbClr val="E4322B"/>
          </a:solidFill>
          <a:ln w="3175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08760" y="3108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SHELF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these ideas come from — the top five.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783080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E4322B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SHAPE 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Ryan Singer, Basecamp (2019)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Shaped pitches, no-gos, appetite. Free at basecamp.com/shapeup.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98848" y="1783080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226ED2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SPEC-DRIVEN DEVELOPMENT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17136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Paul Everitt, DeepLearning.AI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 + plan-implement-verify loop, live.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600200"/>
            <a:ext cx="356616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3608" y="1783080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18A580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CONTINUOUS DELIVERY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11896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Humble &amp; Farley (2010)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 stage &amp; pipeline skeleton behind Day 6.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356616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" y="4114800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7C4EC4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SWE-BENCH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Jimenez et al., NeurIPS 2024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proof: spec quality predicts agent output.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356616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1515"/>
            </a:solidFill>
            <a:prstDash val="solid"/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98848" y="4114800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E4322B"/>
          </a:solidFill>
          <a:ln w="254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CLAUDE CODE DOCS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17136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docs.anthropic.com/claude-code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1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CLAUDE.md, memory, and pipeline wiring in practice.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92440" y="3977640"/>
            <a:ext cx="3611880" cy="1783080"/>
          </a:xfrm>
          <a:prstGeom prst="wedgeRoundRectCallout">
            <a:avLst/>
          </a:prstGeom>
          <a:solidFill>
            <a:srgbClr val="FFCB28"/>
          </a:solidFill>
          <a:ln w="38100">
            <a:solidFill>
              <a:srgbClr val="151515"/>
            </a:solidFill>
          </a:ln>
          <a:effectLst>
            <a:outerShdw blurRad="101600" dist="63500" dir="2700000" algn="bl" rotWithShape="0">
              <a:srgbClr val="0E0E0E">
                <a:alpha val="100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51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Now go ship a feature.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4322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Spec first. 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0" y="6254496"/>
            <a:ext cx="493776" cy="493776"/>
          </a:xfrm>
          <a:prstGeom prst="ellipse">
            <a:avLst/>
          </a:prstGeom>
          <a:solidFill>
            <a:srgbClr val="15151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1972</Words>
  <Application>Microsoft Office PowerPoint</Application>
  <PresentationFormat>Widescreen</PresentationFormat>
  <Paragraphs>349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Comic Sans MS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 with Coding Agents</dc:title>
  <dc:subject>PptxGenJS Presentation</dc:subject>
  <dc:creator>Spec-Driven Development</dc:creator>
  <cp:lastModifiedBy>Anubhav Singh</cp:lastModifiedBy>
  <cp:revision>1</cp:revision>
  <dcterms:created xsi:type="dcterms:W3CDTF">2026-07-28T07:26:57Z</dcterms:created>
  <dcterms:modified xsi:type="dcterms:W3CDTF">2026-07-28T07:36:08Z</dcterms:modified>
</cp:coreProperties>
</file>