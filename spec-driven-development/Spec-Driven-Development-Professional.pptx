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Productive generation (code you keep)</c:v>
                </c:pt>
              </c:strCache>
            </c:strRef>
          </c:tx>
          <c:spPr>
            <a:solidFill>
              <a:srgbClr val="128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Vibe coding</c:v>
                  </c:pt>
                  <c:pt idx="1">
                    <c:v>Spec-driven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Rework &amp; regeneration</c:v>
                </c:pt>
              </c:strCache>
            </c:strRef>
          </c:tx>
          <c:spPr>
            <a:solidFill>
              <a:srgbClr val="C155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Vibe coding</c:v>
                  </c:pt>
                  <c:pt idx="1">
                    <c:v>Spec-driven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</c:v>
                </c:pt>
                <c:pt idx="1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Re-reading growing context each turn</c:v>
                </c:pt>
              </c:strCache>
            </c:strRef>
          </c:tx>
          <c:spPr>
            <a:solidFill>
              <a:srgbClr val="D89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Vibe coding</c:v>
                  </c:pt>
                  <c:pt idx="1">
                    <c:v>Spec-driven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2A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b"/>
        <c:majorGridlines>
          <c:spPr>
            <a:ln w="12700" cap="flat">
              <a:solidFill>
                <a:srgbClr val="E8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88A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66788A"/>
                    </a:solidFill>
                    <a:latin typeface="Calibri"/>
                  </a:rPr>
                  <a:t>Approx. tokens (thousands)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8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A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507492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 spec )  → 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PRACTITIONER'S GUIDE FOR DEVELOPERS  ·  30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Coding Agents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41248" y="4434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vibe-coding. Write the contract; let the agent execute.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3pm on a Tuesday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your agent and type three friendly sentences.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1417320"/>
          </a:xfrm>
          <a:prstGeom prst="rect">
            <a:avLst/>
          </a:prstGeom>
          <a:solidFill>
            <a:srgbClr val="FBF3E3"/>
          </a:solidFill>
          <a:ln w="15875">
            <a:solidFill>
              <a:srgbClr val="D8922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loading spinner to the dashboard so users know when data is loading.”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42900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1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SHIPPED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lines of code, two minutes later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spinner on every page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third-party animation library not in your project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all async requests — including background analytics pings the user never sees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257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755648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4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did exactly what you asked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specified a spinner that says “data is loading.” It also invented the scope, the library, and the trigger condition — because you left all three unspecified.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4069080"/>
            <a:ext cx="5257800" cy="210312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40690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didn't fail.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spec did.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transfer of power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work — the question is who resolves the ambiguity, and when.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00" cy="658368"/>
          </a:xfrm>
          <a:prstGeom prst="rect">
            <a:avLst/>
          </a:prstGeom>
          <a:solidFill>
            <a:srgbClr val="C155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is in charge.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a mood and hope.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resolved invisibly, inside the agent, during generation.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 it in code review — after the code exists.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00200"/>
            <a:ext cx="5486400" cy="6583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002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4231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in charge.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 contract; the agent executes it.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resolved visibly, by you, while writing the spec.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 it before a single line is generated.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68880" y="5532120"/>
            <a:ext cx="7223760" cy="77724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55321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well-structured spec </a:t>
            </a:r>
            <a:pPr algn="ctr" indent="0" marL="0">
              <a:buNone/>
            </a:pPr>
            <a:r>
              <a:rPr lang="en-US" sz="1900" b="1" i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program.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is a function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Extraordinarily capable — but still input in, output 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0" y="1691640"/>
            <a:ext cx="6675120" cy="123444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69164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 </a:t>
            </a:r>
            <a:pPr algn="ctr" indent="0" marL="0">
              <a:buNone/>
            </a:pPr>
            <a:r>
              <a:rPr lang="en-US" sz="4000" b="1" dirty="0">
                <a:solidFill>
                  <a:srgbClr val="12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ctr" indent="0" marL="0">
              <a:buNone/>
            </a:pPr>
            <a:r>
              <a:rPr lang="en-US" sz="4000" b="1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 →  </a:t>
            </a:r>
            <a:pPr algn="ctr" indent="0" marL="0">
              <a:buNone/>
            </a:pPr>
            <a:r>
              <a:rPr lang="en-US" sz="4000" b="1" dirty="0">
                <a:solidFill>
                  <a:srgbClr val="D8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56616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word you write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constraint — something the agent cannot randomly vary.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3383280"/>
            <a:ext cx="5074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356616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1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word you omit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degree of freedom — the agent fills it with its statistically-likely priors.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isn't how </a:t>
            </a:r>
            <a:pPr algn="ctr" indent="0" marL="0">
              <a:buNone/>
            </a:pPr>
            <a:r>
              <a:rPr lang="en-US" sz="2000" b="1" i="1" dirty="0">
                <a:solidFill>
                  <a:srgbClr val="667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</a:t>
            </a:r>
            <a:pPr algn="ctr" indent="0" marL="0">
              <a:buNone/>
            </a:pPr>
            <a:r>
              <a:rPr lang="en-US" sz="2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you write. It's </a:t>
            </a:r>
            <a:pPr algn="ctr" indent="0" marL="0">
              <a:buNone/>
            </a:pPr>
            <a:r>
              <a:rPr lang="en-US" sz="2000" b="1" i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pPr algn="ctr" indent="0" marL="0">
              <a:buNone/>
            </a:pPr>
            <a:r>
              <a:rPr lang="en-US" sz="2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you write.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spec failure is one of three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only what you give it — so every gap becomes a confident wrong guess.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566160" cy="603504"/>
          </a:xfrm>
          <a:prstGeom prst="rect">
            <a:avLst/>
          </a:prstGeom>
          <a:solidFill>
            <a:srgbClr val="C155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331720"/>
            <a:ext cx="3054096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7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“make it look better”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of many valid interpretations.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54480"/>
            <a:ext cx="3566160" cy="603504"/>
          </a:xfrm>
          <a:prstGeom prst="rect">
            <a:avLst/>
          </a:prstGeom>
          <a:solidFill>
            <a:srgbClr val="34506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5544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Incompleteness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2331720"/>
            <a:ext cx="3054096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7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missing: “no new npm packages”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sensible thing — wrong for your context.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661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554480"/>
            <a:ext cx="3566160" cy="603504"/>
          </a:xfrm>
          <a:prstGeom prst="rect">
            <a:avLst/>
          </a:prstGeom>
          <a:solidFill>
            <a:srgbClr val="D8922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5544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Untestability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2331720"/>
            <a:ext cx="3054096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1E7E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“improve performance”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code it can't verify against your intent.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709160"/>
            <a:ext cx="109728" cy="1463040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463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SWE-bench (NeurIPS 2024)   </a:t>
            </a:r>
            <a:pPr indent="0" marL="0">
              <a:buNone/>
            </a:pPr>
            <a:r>
              <a:rPr lang="en-US" sz="14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issues with reproduction steps, expected behaviour, and tests were solved at dramatically higher rates. Agent capability was roughly constant — spec quality was the variable.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548640"/>
            <a:ext cx="47548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Executable Spec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layers. Miss one, and it fails in a predictable 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every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structure to be executable — not a 20-page requirements doc.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09728" cy="2103120"/>
          </a:xfrm>
          <a:prstGeom prst="rect">
            <a:avLst/>
          </a:prstGeom>
          <a:solidFill>
            <a:srgbClr val="34506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55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pPr indent="0" marL="0">
              <a:buNone/>
            </a:pPr>
            <a:r>
              <a:rPr lang="en-US" sz="1300" i="1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Here is the world.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32257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files and the existing pattern to follow.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314553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 → wrong thing changed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57276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572768"/>
            <a:ext cx="109728" cy="2103120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2" name="Text 10"/>
          <p:cNvSpPr/>
          <p:nvPr/>
        </p:nvSpPr>
        <p:spPr>
          <a:xfrm>
            <a:off x="6647688" y="1755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pPr indent="0" marL="0">
              <a:buNone/>
            </a:pPr>
            <a:r>
              <a:rPr lang="en-US" sz="1300" i="1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Here is the outcome.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32257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user-visible behaviour. The result, not the method.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47688" y="314553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 → wrong outcome optimised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5876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58768"/>
            <a:ext cx="109728" cy="2103120"/>
          </a:xfrm>
          <a:prstGeom prst="rect">
            <a:avLst/>
          </a:prstGeom>
          <a:solidFill>
            <a:srgbClr val="D8922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041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pPr indent="0" marL="0">
              <a:buNone/>
            </a:pPr>
            <a:r>
              <a:rPr lang="en-US" sz="1300" i="1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Walls you can't move.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" y="460857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not change. Each line is a rabbit hole closed.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543153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 → unwanted changes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858768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858768"/>
            <a:ext cx="109728" cy="21031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6647688" y="4041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pPr indent="0" marL="0">
              <a:buNone/>
            </a:pPr>
            <a:r>
              <a:rPr lang="en-US" sz="1300" i="1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How we know it's done.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47688" y="460857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statements, each true or false. Given / When / Then.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47688" y="543153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 → nobody knows if it worked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spec, four layers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search on the admin user list.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635240" cy="46177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7223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C8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Feature: Search on Admin User List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FB7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Context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+ TS admin. UserListPage.tsx renders &lt;DataTable&gt;.
Copy the client-side search on ProductListPage.tsx.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6BC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Goal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types in a box → list filters live by name/email
(case-insensitive).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A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Constraints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new npm packages. No backend changes. Client-side only.
Don't touch DataTable. Match ProductListPage styling.
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C8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## Acceptance criteria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“alice” shows only matching users (case-insensitive)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Clearing the box restores the full list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No match → “No users found”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58200" y="1737360"/>
            <a:ext cx="3154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0" y="19202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page.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minutes to write. Complete enough to implement correctly on the first try.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58200" y="3931920"/>
            <a:ext cx="3154680" cy="224028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0" y="41148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criteria first.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write three testable criteria, you don't know what you want yet.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548640"/>
            <a:ext cx="47548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Constitution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shared context once — every feature spec inherits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document every spec inherits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calls it CLAUDE.md. Cursor: .cursorrules. The idea is identical.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4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employee handbook for your agent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 at project start. Loaded every session. Applied to every feature spec it receives.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60020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600200"/>
            <a:ext cx="91440" cy="841248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9" name="Text 7"/>
          <p:cNvSpPr/>
          <p:nvPr/>
        </p:nvSpPr>
        <p:spPr>
          <a:xfrm>
            <a:off x="6053328" y="1655064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who it's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32520" y="160020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32520" y="1600200"/>
            <a:ext cx="91440" cy="841248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2" name="Text 10"/>
          <p:cNvSpPr/>
          <p:nvPr/>
        </p:nvSpPr>
        <p:spPr>
          <a:xfrm>
            <a:off x="8933688" y="1655064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what's NOT in scope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52160" y="2569464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2569464"/>
            <a:ext cx="91440" cy="841248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053328" y="26243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files, patterns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32520" y="2569464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32520" y="2569464"/>
            <a:ext cx="91440" cy="841248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933688" y="26243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3–5 features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852160" y="3538728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3538728"/>
            <a:ext cx="91440" cy="841248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359359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a11y, security, errors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5029200" cy="137160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794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 in scope” is the most important part.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excluded item is a rabbit hole that no longer exists for any feature spec.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230368"/>
            <a:ext cx="11064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2303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spec inherits it.  </a:t>
            </a:r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layer drops from ~6 lines to 3 — and CLAUDE.md, .cursorrules, and Copilot repo instructions are the same idea for any agent.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548640"/>
            <a:ext cx="47548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Feature Specs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with the feature. Start with “done.”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parts, written backwards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them forward; write them in reverse to force clarity.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37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148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Appetite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Med / Large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07208" y="16002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1737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2148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pain, for whom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65776" y="16002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0368" y="1737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30368" y="2148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sketch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User-visible behaviour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24344" y="16002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88936" y="1737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88936" y="2148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No-gos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NOT building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82912" y="16002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47504" y="1737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47504" y="21488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1064240" cy="77724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703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ORDER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Criteria  ←  No-gos  ←  Sketch  ←  Problem  ←  Appetite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80160" y="4800600"/>
            <a:ext cx="9601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54480" y="4800600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write three testable criteria in five minutes?  </a:t>
            </a:r>
            <a:pPr algn="ctr" indent="0" marL="0">
              <a:buNone/>
            </a:pPr>
            <a:r>
              <a:rPr lang="en-US" sz="1550" b="1" dirty="0">
                <a:solidFill>
                  <a:srgbClr val="C1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feature isn't ready.  </a:t>
            </a:r>
            <a:pPr algn="ctr" indent="0" marL="0">
              <a:buNone/>
            </a:pPr>
            <a:r>
              <a:rPr lang="en-US" sz="13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no-gos are the rabbit holes you close before the agent digs them.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548640"/>
            <a:ext cx="47548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Component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spec and the plan: settle the shape before the steps.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before you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spec closes WHAT. It leaves the technical shape wide open.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4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spec leaves open</a:t>
            </a:r>
            <a:endParaRPr lang="en-US" sz="16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contracts — the shapes that cross each boundary</a:t>
            </a:r>
            <a:endParaRPr lang="en-US" sz="16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boundaries — what's a module, what's a function</a:t>
            </a:r>
            <a:endParaRPr lang="en-US" sz="16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state lives — client, server, cache, database</a:t>
            </a:r>
            <a:endParaRPr lang="en-US" sz="16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event shapes — endpoints, payloads, messages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points — what it touches, and how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709160" cy="452628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920240"/>
            <a:ext cx="41605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plan and the agent decides all of these — silently, while it plans.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are the highest-leverage and the hardest to reverse. Close them on purpose, in a short design doc, before the plan exists.</a:t>
            </a:r>
            <a:endParaRPr lang="en-US" sz="1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gives the agent the steps.</a:t>
            </a:r>
            <a:endParaRPr lang="en-US" sz="1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gives it the shape.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technical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Enough to remove structural ambiguity — not a 40-page HLD.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09728" cy="1645920"/>
          </a:xfrm>
          <a:prstGeom prst="rect">
            <a:avLst/>
          </a:prstGeom>
          <a:solidFill>
            <a:srgbClr val="34506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7393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breakdown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you'll build, each with a single clear responsibility.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55080" y="1572768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572768"/>
            <a:ext cx="109728" cy="1645920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0" name="Text 8"/>
          <p:cNvSpPr/>
          <p:nvPr/>
        </p:nvSpPr>
        <p:spPr>
          <a:xfrm>
            <a:off x="6647688" y="177393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&amp; data model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types, endpoints, and events the pieces exchange across boundaries.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401568"/>
            <a:ext cx="109728" cy="1645920"/>
          </a:xfrm>
          <a:prstGeom prst="rect">
            <a:avLst/>
          </a:prstGeom>
          <a:solidFill>
            <a:srgbClr val="D8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0273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component owns and must not touch — and where state lives.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55080" y="3401568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3401568"/>
            <a:ext cx="109728" cy="1645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647688" y="360273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&amp; trade-offs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mini-ADR: what you chose, why, and the alternatives you ruled out.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agent as a design partner first:  </a:t>
            </a:r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“Given this spec, propose 2–3 designs with trade-offs.”  You choose; you write the chosen one down.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to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sketch plus a few decisions — then the plan derives from it.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sketch — task-assignment notifications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34506E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task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34506E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/tasks/:id/assign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886200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128C86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846320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34506E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table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685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6451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8862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2E8B57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Toast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810512"/>
            <a:ext cx="3794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4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toast only — email deferred to the roadmap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persisted — unread survives a reload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the existing poll — no new socket or infra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60920" y="4663440"/>
            <a:ext cx="4251960" cy="150876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482803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now implements this design — step by step, file by file.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executes your architecture. It doesn't invent one.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548640"/>
            <a:ext cx="47548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→ Implement → Verify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three-beat loop that turns the design into verified code.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beats,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beat catches ~80% of miscommunication.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61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3566160" cy="603504"/>
          </a:xfrm>
          <a:prstGeom prst="rect">
            <a:avLst/>
          </a:prstGeom>
          <a:solidFill>
            <a:srgbClr val="34506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72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359152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4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the constitution, spec, and design. “Produce a numbered plan first — no code yet.” Read each step against the design and no-gos.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5661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572768"/>
            <a:ext cx="3566160" cy="60350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572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Implement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359152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it work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“Implement exactly as planned, and write a test per criterion. Stop and tell me if anything is unexpected.”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572768"/>
            <a:ext cx="35661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572768"/>
            <a:ext cx="3566160" cy="603504"/>
          </a:xfrm>
          <a:prstGeom prst="rect">
            <a:avLst/>
          </a:prstGeom>
          <a:solidFill>
            <a:srgbClr val="D8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572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Verify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2359152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8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each criterion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every acceptance criterion one by one. Trust your eyes over the agent's self-assessment.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155448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617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Misunderstandings are cheap at the plan stage, expensive at the code stage.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plan costs 30 seconds to correct. A wrong implementation costs 30 minutes to review, understand, and revert.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prompts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reusable prompts — the whole loop becomes muscle memory.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46177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566160" cy="530352"/>
          </a:xfrm>
          <a:prstGeom prst="rect">
            <a:avLst/>
          </a:prstGeom>
          <a:solidFill>
            <a:srgbClr val="34506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544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063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CLAUDE.md, specs/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feature.md, and design/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feature.md.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any code, produce 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numbered plan that implements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design: file, change, and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AC it satisfies.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write code yet.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66160" cy="46177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554480"/>
            <a:ext cx="3566160" cy="530352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5544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3063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looks good.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it exactly as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described, and write a test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acceptance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anything is unexpected,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and tell me before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changing the plan.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46177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554480"/>
            <a:ext cx="3566160" cy="530352"/>
          </a:xfrm>
          <a:prstGeom prst="rect">
            <a:avLst/>
          </a:prstGeom>
          <a:solidFill>
            <a:srgbClr val="D8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5544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286000"/>
            <a:ext cx="3063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complete.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through each acceptance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one by one.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each: satisfied? and how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you verify it (test, code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trace, or manual check)?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from acceptance criteria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Given / When / Then criteria are already test specs — the agent turns each into a real test.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86600" cy="461772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6629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C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acceptance criterion   specs/feature.md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Typing “alice” shows only users whose
    name or email contains it (case-insensitive)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C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generated test        UserList.test.tsx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C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'filters by name/email, case-insensitive'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render(&lt;UserList users={[alice, bob]} /&gt;)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type(searchBox, 'ALICE')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expect(visibleRows()).toEqual(['Alice'])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18120" y="1737360"/>
            <a:ext cx="3794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0" y="192024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4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criterion — plus the edge cases the criteria imply.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it into the spec: “Write a test for each acceptance criterion; all must pass.”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becomes the CI gate — a red test stops the ship.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18120" y="4572000"/>
            <a:ext cx="3794760" cy="160020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4736592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never write the tests.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constrain them, the agent generates them, CI enforces them — intent becomes a guarantee.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548640"/>
            <a:ext cx="47548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Token Economics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isn't just cleaner — it's measurably cheaper per feature.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token economics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shipped feature — where the tokens go, and why spec-driven costs less.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7680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645920"/>
            <a:ext cx="3154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0" y="1828800"/>
            <a:ext cx="27432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~4×</a:t>
            </a:r>
            <a:endParaRPr lang="en-US" sz="3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for the same feature (illustrative).</a:t>
            </a:r>
            <a:endParaRPr lang="en-US" sz="3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pays twice — whole files regenerated, and a growing conversation re-sent at full price each turn.</a:t>
            </a:r>
            <a:endParaRPr lang="en-US" sz="3800" dirty="0"/>
          </a:p>
          <a:p>
            <a:pPr indent="0" marL="0">
              <a:buNone/>
            </a:pPr>
            <a:r>
              <a:rPr lang="en-US" sz="12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front-loads a tiny spec, catches errors in prose, reuses a cached constitution (~0.1× reads), and skips throwaway work.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order-of-magnitude to show where the tokens go, not a benchmarked measurement.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548640"/>
            <a:ext cx="475488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Agent → CI → Deploy. Set it up once; reuse it forever.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→ Agent → CI → Deploy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 stops the line — the feature doesn't ship until it's green.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14600" cy="1280160"/>
          </a:xfrm>
          <a:prstGeom prst="rect">
            <a:avLst/>
          </a:prstGeom>
          <a:solidFill>
            <a:srgbClr val="34506E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5448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· Design · Constitution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inputs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035808" y="1554480"/>
            <a:ext cx="438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38144" y="1554480"/>
            <a:ext cx="2514600" cy="1280160"/>
          </a:xfrm>
          <a:prstGeom prst="rect">
            <a:avLst/>
          </a:prstGeom>
          <a:solidFill>
            <a:srgbClr val="128C86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55448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implement · verify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25312" y="1554480"/>
            <a:ext cx="438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27648" y="1554480"/>
            <a:ext cx="2514600" cy="1280160"/>
          </a:xfrm>
          <a:prstGeom prst="rect">
            <a:avLst/>
          </a:prstGeom>
          <a:solidFill>
            <a:srgbClr val="D8922B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55448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on every commit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814816" y="1554480"/>
            <a:ext cx="438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17152" y="1554480"/>
            <a:ext cx="2514600" cy="1280160"/>
          </a:xfrm>
          <a:prstGeom prst="rect">
            <a:avLst/>
          </a:prstGeom>
          <a:solidFill>
            <a:srgbClr val="2E8B57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0" y="155448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→ Prod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then deploy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86400" cy="2240280"/>
          </a:xfrm>
          <a:prstGeom prst="rect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20040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8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project-root/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  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C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constitution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specs/     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C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what &amp; why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design/    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B7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technical shape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.github/workflows/ci.yml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87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CI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3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 · tests/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063240"/>
            <a:ext cx="5303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200400"/>
            <a:ext cx="4892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4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Specs live in the repo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Notion. Not in Confluence. In version control, beside the code.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references them by file path.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shows how each spec evolved.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see the spec beside the diff in the PR.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0E1B2A"/>
          </a:solidFill>
          <a:ln/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440680"/>
            <a:ext cx="109728" cy="777240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(yours): </a:t>
            </a:r>
            <a:pPr indent="0" marL="0">
              <a:buNone/>
            </a:pPr>
            <a:r>
              <a:rPr lang="en-US" sz="1200" dirty="0">
                <a:solidFill>
                  <a:srgbClr val="D6E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· specs/ · design/ · ci.yml.   </a:t>
            </a:r>
            <a:pPr indent="0" marL="0">
              <a:buNone/>
            </a:pPr>
            <a:r>
              <a:rPr lang="en-US" sz="1300" b="1" dirty="0">
                <a:solidFill>
                  <a:srgbClr val="9FB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Interchangeable: </a:t>
            </a:r>
            <a:pPr indent="0" marL="0">
              <a:buNone/>
            </a:pPr>
            <a:r>
              <a:rPr lang="en-US" sz="12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Cursor · Copilot…   </a:t>
            </a:r>
            <a:pPr indent="0" marL="0">
              <a:buNone/>
            </a:pPr>
            <a:r>
              <a:rPr lang="en-US" sz="1250" i="1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agent; the workflow doesn't change.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28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spec-driven development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back for front-loading the thinking.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09728" cy="2103120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7393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First-try-correct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degrees of freedom up front means the output matches intent on the first pass — far fewer review-and-rewrite loops.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43400" y="157276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572768"/>
            <a:ext cx="109728" cy="2103120"/>
          </a:xfrm>
          <a:prstGeom prst="rect">
            <a:avLst/>
          </a:prstGeom>
          <a:solidFill>
            <a:srgbClr val="34506E"/>
          </a:solidFill>
          <a:ln/>
        </p:spPr>
      </p:sp>
      <p:sp>
        <p:nvSpPr>
          <p:cNvPr id="10" name="Text 8"/>
          <p:cNvSpPr/>
          <p:nvPr/>
        </p:nvSpPr>
        <p:spPr>
          <a:xfrm>
            <a:off x="4636008" y="177393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constitution and specs are the source of truth. A colleague reruns them and gets the same result — no tribal knowledge.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138160" y="157276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1572768"/>
            <a:ext cx="109728" cy="2103120"/>
          </a:xfrm>
          <a:prstGeom prst="rect">
            <a:avLst/>
          </a:prstGeom>
          <a:solidFill>
            <a:srgbClr val="D8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8430768" y="177393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idea → shipped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of spec beats thirty of debugging. The thinking moves earlier, where it's cheap to change.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58768"/>
            <a:ext cx="109728" cy="21031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5993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Cheaper per feature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fewer tokens: work shifts from a compounding rework loop to one small, cached front-load.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43400" y="385876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3858768"/>
            <a:ext cx="109728" cy="2103120"/>
          </a:xfrm>
          <a:prstGeom prst="rect">
            <a:avLst/>
          </a:prstGeom>
          <a:solidFill>
            <a:srgbClr val="0E6E69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405993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by design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become tests become the CI gate. “Done” is objective, not a matter of opinion.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138160" y="385876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3858768"/>
            <a:ext cx="109728" cy="2103120"/>
          </a:xfrm>
          <a:prstGeom prst="rect">
            <a:avLst/>
          </a:prstGeom>
          <a:solidFill>
            <a:srgbClr val="34506E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4059936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5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Tool-agnostic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Markdown artifacts outlive any one agent. Swap Claude Code for Cursor — the workflow doesn't change.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080" y="42062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22960" y="914400"/>
            <a:ext cx="457200" cy="100584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698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2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spec first. </a:t>
            </a:r>
            <a:pPr indent="0" marL="0">
              <a:buNone/>
            </a:pPr>
            <a:r>
              <a:rPr lang="en-US" sz="4000" b="1" dirty="0">
                <a:solidFill>
                  <a:srgbClr val="12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288036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88036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0" y="288036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Implement · Verify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74904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→ CI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74904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0" y="374904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7293D"/>
          </a:solidFill>
          <a:ln w="12700">
            <a:solidFill>
              <a:srgbClr val="2E42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solidFill>
            <a:srgbClr val="1729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892040"/>
            <a:ext cx="109728" cy="1051560"/>
          </a:xfrm>
          <a:prstGeom prst="rect">
            <a:avLst/>
          </a:prstGeom>
          <a:solidFill>
            <a:srgbClr val="128C8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minutes of spec beats 30 minutes of debugging — and roughly a quarter of the tokens — every time.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Coding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 with Coding Agents</dc:title>
  <dc:subject>PptxGenJS Presentation</dc:subject>
  <dc:creator>Spec-Driven Development</dc:creator>
  <cp:lastModifiedBy>Spec-Driven Development</cp:lastModifiedBy>
  <cp:revision>1</cp:revision>
  <dcterms:created xsi:type="dcterms:W3CDTF">2026-07-28T08:33:56Z</dcterms:created>
  <dcterms:modified xsi:type="dcterms:W3CDTF">2026-07-28T08:33:56Z</dcterms:modified>
</cp:coreProperties>
</file>